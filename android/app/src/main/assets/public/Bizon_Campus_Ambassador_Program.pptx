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914400" y="1645920"/>
            <a:ext cx="9144000" cy="457200"/>
          </a:xfrm>
          <a:prstGeom prst="rect">
            <a:avLst/>
          </a:prstGeom>
          <a:noFill/>
          <a:ln/>
        </p:spPr>
        <p:txBody>
          <a:bodyPr wrap="square" rtlCol="0" anchor="ctr"/>
          <a:lstStyle/>
          <a:p>
            <a:pPr indent="0" marL="0">
              <a:buNone/>
            </a:pPr>
            <a:r>
              <a:rPr lang="en-US" sz="1400" b="1" spc="200" kern="0" dirty="0">
                <a:solidFill>
                  <a:srgbClr val="1A73E8"/>
                </a:solidFill>
                <a:latin typeface="Outfit" pitchFamily="34" charset="0"/>
                <a:ea typeface="Outfit" pitchFamily="34" charset="-122"/>
                <a:cs typeface="Outfit" pitchFamily="34" charset="-120"/>
              </a:rPr>
              <a:t>AVRORA GROUP &amp; BIZON ENERGY</a:t>
            </a:r>
            <a:endParaRPr lang="en-US" sz="1400" dirty="0"/>
          </a:p>
        </p:txBody>
      </p:sp>
      <p:sp>
        <p:nvSpPr>
          <p:cNvPr id="3" name="Text 1"/>
          <p:cNvSpPr/>
          <p:nvPr/>
        </p:nvSpPr>
        <p:spPr>
          <a:xfrm>
            <a:off x="914400" y="2286000"/>
            <a:ext cx="9144000" cy="1645920"/>
          </a:xfrm>
          <a:prstGeom prst="rect">
            <a:avLst/>
          </a:prstGeom>
          <a:noFill/>
          <a:ln/>
        </p:spPr>
        <p:txBody>
          <a:bodyPr wrap="square" rtlCol="0" anchor="ctr"/>
          <a:lstStyle/>
          <a:p>
            <a:pPr indent="0" marL="0">
              <a:buNone/>
            </a:pPr>
            <a:r>
              <a:rPr lang="en-US" sz="4400" b="1" dirty="0">
                <a:solidFill>
                  <a:srgbClr val="FF3B30"/>
                </a:solidFill>
                <a:latin typeface="Outfit" pitchFamily="34" charset="0"/>
                <a:ea typeface="Outfit" pitchFamily="34" charset="-122"/>
                <a:cs typeface="Outfit" pitchFamily="34" charset="-120"/>
              </a:rPr>
              <a:t>Bizon Campus</a:t>
            </a:r>
            <a:endParaRPr lang="en-US" sz="4400" dirty="0"/>
          </a:p>
          <a:p>
            <a:pPr indent="0" marL="0">
              <a:buNone/>
            </a:pPr>
            <a:r>
              <a:rPr lang="en-US" sz="4400" b="1" dirty="0">
                <a:solidFill>
                  <a:srgbClr val="FF3B30"/>
                </a:solidFill>
                <a:latin typeface="Outfit" pitchFamily="34" charset="0"/>
                <a:ea typeface="Outfit" pitchFamily="34" charset="-122"/>
                <a:cs typeface="Outfit" pitchFamily="34" charset="-120"/>
              </a:rPr>
              <a:t>Ambassador Program</a:t>
            </a:r>
            <a:endParaRPr lang="en-US" sz="4400" dirty="0"/>
          </a:p>
        </p:txBody>
      </p:sp>
      <p:sp>
        <p:nvSpPr>
          <p:cNvPr id="4" name="Text 2"/>
          <p:cNvSpPr/>
          <p:nvPr/>
        </p:nvSpPr>
        <p:spPr>
          <a:xfrm>
            <a:off x="914400" y="4206240"/>
            <a:ext cx="9144000" cy="731520"/>
          </a:xfrm>
          <a:prstGeom prst="rect">
            <a:avLst/>
          </a:prstGeom>
          <a:noFill/>
          <a:ln/>
        </p:spPr>
        <p:txBody>
          <a:bodyPr wrap="square" rtlCol="0" anchor="ctr"/>
          <a:lstStyle/>
          <a:p>
            <a:pPr indent="0" marL="0">
              <a:buNone/>
            </a:pPr>
            <a:r>
              <a:rPr lang="en-US" sz="1600" dirty="0">
                <a:solidFill>
                  <a:srgbClr val="A6B4C9"/>
                </a:solidFill>
                <a:latin typeface="Inter" pitchFamily="34" charset="0"/>
                <a:ea typeface="Inter" pitchFamily="34" charset="-122"/>
                <a:cs typeface="Inter" pitchFamily="34" charset="-120"/>
              </a:rPr>
              <a:t>Universitet Ekosistemində Strateji Gənclər Marketinqi Layihəsi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731520" y="365760"/>
            <a:ext cx="10058400" cy="274320"/>
          </a:xfrm>
          <a:prstGeom prst="rect">
            <a:avLst/>
          </a:prstGeom>
          <a:noFill/>
          <a:ln/>
        </p:spPr>
        <p:txBody>
          <a:bodyPr wrap="square" rtlCol="0" anchor="ctr"/>
          <a:lstStyle/>
          <a:p>
            <a:pPr indent="0" marL="0">
              <a:buNone/>
            </a:pPr>
            <a:r>
              <a:rPr lang="en-US" sz="1100" b="1" spc="200" kern="0" dirty="0">
                <a:solidFill>
                  <a:srgbClr val="1A73E8"/>
                </a:solidFill>
                <a:latin typeface="Outfit" pitchFamily="34" charset="0"/>
                <a:ea typeface="Outfit" pitchFamily="34" charset="-122"/>
                <a:cs typeface="Outfit" pitchFamily="34" charset="-120"/>
              </a:rPr>
              <a:t>01 / LAYİHƏNİN MAHİYYƏTİ</a:t>
            </a:r>
            <a:endParaRPr lang="en-US" sz="1100" dirty="0"/>
          </a:p>
        </p:txBody>
      </p:sp>
      <p:sp>
        <p:nvSpPr>
          <p:cNvPr id="3" name="Text 1"/>
          <p:cNvSpPr/>
          <p:nvPr/>
        </p:nvSpPr>
        <p:spPr>
          <a:xfrm>
            <a:off x="731520" y="731520"/>
            <a:ext cx="10058400" cy="45720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Universitetlərdə Rəsmi Təmsilçilik Modeli</a:t>
            </a:r>
            <a:endParaRPr lang="en-US" sz="2600" dirty="0"/>
          </a:p>
        </p:txBody>
      </p:sp>
      <p:sp>
        <p:nvSpPr>
          <p:cNvPr id="4" name="Text 2"/>
          <p:cNvSpPr/>
          <p:nvPr/>
        </p:nvSpPr>
        <p:spPr>
          <a:xfrm>
            <a:off x="731520" y="6217920"/>
            <a:ext cx="10058400" cy="274320"/>
          </a:xfrm>
          <a:prstGeom prst="rect">
            <a:avLst/>
          </a:prstGeom>
          <a:noFill/>
          <a:ln/>
        </p:spPr>
        <p:txBody>
          <a:bodyPr wrap="square" rtlCol="0" anchor="ctr"/>
          <a:lstStyle/>
          <a:p>
            <a:pPr indent="0" marL="0">
              <a:buNone/>
            </a:pPr>
            <a:r>
              <a:rPr lang="en-US" sz="900" b="1" dirty="0">
                <a:solidFill>
                  <a:srgbClr val="5A6578"/>
                </a:solidFill>
                <a:latin typeface="Inter" pitchFamily="34" charset="0"/>
                <a:ea typeface="Inter" pitchFamily="34" charset="-122"/>
                <a:cs typeface="Inter" pitchFamily="34" charset="-120"/>
              </a:rPr>
              <a:t>AVRORA GROUP &amp; BIZON ENERGY  |  CAMPUS AMBASSADOR PROGRAM</a:t>
            </a:r>
            <a:endParaRPr lang="en-US" sz="900" dirty="0"/>
          </a:p>
        </p:txBody>
      </p:sp>
      <p:sp>
        <p:nvSpPr>
          <p:cNvPr id="5" name="Text 3"/>
          <p:cNvSpPr/>
          <p:nvPr/>
        </p:nvSpPr>
        <p:spPr>
          <a:xfrm>
            <a:off x="731520" y="1463040"/>
            <a:ext cx="10515600" cy="4389120"/>
          </a:xfrm>
          <a:prstGeom prst="rect">
            <a:avLst/>
          </a:prstGeom>
          <a:noFill/>
          <a:ln/>
        </p:spPr>
        <p:txBody>
          <a:bodyPr wrap="square" rtlCol="0" anchor="ctr"/>
          <a:lstStyle/>
          <a:p>
            <a:pPr indent="0" marL="0">
              <a:lnSpc>
                <a:spcPts val="2400"/>
              </a:lnSpc>
              <a:buNone/>
            </a:pPr>
            <a:r>
              <a:rPr lang="en-US" sz="1350" dirty="0">
                <a:solidFill>
                  <a:srgbClr val="A6B4C9"/>
                </a:solidFill>
                <a:latin typeface="Inter" pitchFamily="34" charset="0"/>
                <a:ea typeface="Inter" pitchFamily="34" charset="-122"/>
                <a:cs typeface="Inter" pitchFamily="34" charset="-120"/>
              </a:rPr>
              <a:t>Bizon Campus Ambassador Program sadəcə qısamüddətli bir reklam kampaniyası deyil. Bu proqram tələbə nümayəndələri vasitəsilə Bizon brendinin gənclər arasında tanınırlığını, əlçatanlığını və tələbələrin gündəlik həyatı ilə emosional bağlılığını gücləndirmək üçün qurulmuş uzunmüddətli strateji platformadır: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Campus Ambassadors (Tələbə Səfirləri): Hər bir universitet üzrə xüsusi olaraq seçilmiş aktiv tələbələr Bizon brendinin rəsmi təmsilçiləri kimi çıxış edir və tələbə mühiti ilə brend arasında birbaşa canlı ünsiyyət qururlar.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Çoxşaxəli Tədbirlər və Fəaliyyətlər: Seçilmiş nümayəndələr universitet daxilində müxtəlif əyləncəli və maarifləndirici tədbirlər, müsabiqələr, idman yarışları, məhsul tanıtımları, sosial layihələr və rəqəmsal kampaniyaların təşkilində aktiv və yaradıcı rol alırlar.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İkitərəfli Körpü: Tələbə səfirləri universitet tələbələri ilə Bizon arasında birbaşa əlaqə yaradaraq tələbələrin maraq, istək və ehtiyaclarını şirkətə çatdırır, brend haqqında davamlı kommunikasiya formalaşdırırlar.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731520" y="365760"/>
            <a:ext cx="10058400" cy="274320"/>
          </a:xfrm>
          <a:prstGeom prst="rect">
            <a:avLst/>
          </a:prstGeom>
          <a:noFill/>
          <a:ln/>
        </p:spPr>
        <p:txBody>
          <a:bodyPr wrap="square" rtlCol="0" anchor="ctr"/>
          <a:lstStyle/>
          <a:p>
            <a:pPr indent="0" marL="0">
              <a:buNone/>
            </a:pPr>
            <a:r>
              <a:rPr lang="en-US" sz="1100" b="1" spc="200" kern="0" dirty="0">
                <a:solidFill>
                  <a:srgbClr val="1A73E8"/>
                </a:solidFill>
                <a:latin typeface="Outfit" pitchFamily="34" charset="0"/>
                <a:ea typeface="Outfit" pitchFamily="34" charset="-122"/>
                <a:cs typeface="Outfit" pitchFamily="34" charset="-120"/>
              </a:rPr>
              <a:t>02 / STRATEJİ HƏDƏFLƏR</a:t>
            </a:r>
            <a:endParaRPr lang="en-US" sz="1100" dirty="0"/>
          </a:p>
        </p:txBody>
      </p:sp>
      <p:sp>
        <p:nvSpPr>
          <p:cNvPr id="3" name="Text 1"/>
          <p:cNvSpPr/>
          <p:nvPr/>
        </p:nvSpPr>
        <p:spPr>
          <a:xfrm>
            <a:off x="731520" y="731520"/>
            <a:ext cx="10058400" cy="45720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İcma Quruculuğu və Rəqəmsal Görünürlük</a:t>
            </a:r>
            <a:endParaRPr lang="en-US" sz="2600" dirty="0"/>
          </a:p>
        </p:txBody>
      </p:sp>
      <p:sp>
        <p:nvSpPr>
          <p:cNvPr id="4" name="Text 2"/>
          <p:cNvSpPr/>
          <p:nvPr/>
        </p:nvSpPr>
        <p:spPr>
          <a:xfrm>
            <a:off x="731520" y="6217920"/>
            <a:ext cx="10058400" cy="274320"/>
          </a:xfrm>
          <a:prstGeom prst="rect">
            <a:avLst/>
          </a:prstGeom>
          <a:noFill/>
          <a:ln/>
        </p:spPr>
        <p:txBody>
          <a:bodyPr wrap="square" rtlCol="0" anchor="ctr"/>
          <a:lstStyle/>
          <a:p>
            <a:pPr indent="0" marL="0">
              <a:buNone/>
            </a:pPr>
            <a:r>
              <a:rPr lang="en-US" sz="900" b="1" dirty="0">
                <a:solidFill>
                  <a:srgbClr val="5A6578"/>
                </a:solidFill>
                <a:latin typeface="Inter" pitchFamily="34" charset="0"/>
                <a:ea typeface="Inter" pitchFamily="34" charset="-122"/>
                <a:cs typeface="Inter" pitchFamily="34" charset="-120"/>
              </a:rPr>
              <a:t>AVRORA GROUP &amp; BIZON ENERGY  |  CAMPUS AMBASSADOR PROGRAM</a:t>
            </a:r>
            <a:endParaRPr lang="en-US" sz="900" dirty="0"/>
          </a:p>
        </p:txBody>
      </p:sp>
      <p:sp>
        <p:nvSpPr>
          <p:cNvPr id="5" name="Text 3"/>
          <p:cNvSpPr/>
          <p:nvPr/>
        </p:nvSpPr>
        <p:spPr>
          <a:xfrm>
            <a:off x="731520" y="1463040"/>
            <a:ext cx="10515600" cy="4389120"/>
          </a:xfrm>
          <a:prstGeom prst="rect">
            <a:avLst/>
          </a:prstGeom>
          <a:noFill/>
          <a:ln/>
        </p:spPr>
        <p:txBody>
          <a:bodyPr wrap="square" rtlCol="0" anchor="ctr"/>
          <a:lstStyle/>
          <a:p>
            <a:pPr indent="0" marL="0">
              <a:lnSpc>
                <a:spcPts val="2400"/>
              </a:lnSpc>
              <a:buNone/>
            </a:pPr>
            <a:r>
              <a:rPr lang="en-US" sz="1350" dirty="0">
                <a:solidFill>
                  <a:srgbClr val="A6B4C9"/>
                </a:solidFill>
                <a:latin typeface="Inter" pitchFamily="34" charset="0"/>
                <a:ea typeface="Inter" pitchFamily="34" charset="-122"/>
                <a:cs typeface="Inter" pitchFamily="34" charset="-120"/>
              </a:rPr>
              <a:t>Proqramın əsas hədəfi Bizon energetik içkisini tələbə mədəniyyətinin və onların gündəlik həyat tərzinin ayrılmaz bir hissəsinə çevirməkdir. Müasir gənclər ənənəvi reklamlara deyil, öz mühitlərində gördükləri fəaliyyətlərə inanırlar: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Aktiv Tələbə İcmasının (Community) Yaradılması: Məhsulun sadəcə birtərəfli tanıdılması əvəzinə, universitetlərdə Bizon brendi ətrafında aktiv, yaradıcı və dinamik bir tələbə icması formalaşdırılır. Bu icma brend bağlılığını təbii yolla artırır.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UGC (User Generated Content) və Rəqəmsal Görünürlük: Universitetlərdə təşkil edilən tədbirlər tələbələr tərəfindən sosial şəbəkələrdə könüllü paylaşılır. Bu isə istifadəçilər tərəfindən yaradılan məzmunun həcmini artırır və rəqəmsal görünürlüyü minimum xərclə maksimuma çatdırır.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Uzunmüddətli Sadiqlik: Universitet illərində qurulan bu emosional bağ tələbələrin məzun olduqdan sonra da brendə sadiq qalmasını təmin edir və gələcəyin istehlakçı bazasında Bizonun mövqeyini gücləndirir.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731520" y="365760"/>
            <a:ext cx="10058400" cy="274320"/>
          </a:xfrm>
          <a:prstGeom prst="rect">
            <a:avLst/>
          </a:prstGeom>
          <a:noFill/>
          <a:ln/>
        </p:spPr>
        <p:txBody>
          <a:bodyPr wrap="square" rtlCol="0" anchor="ctr"/>
          <a:lstStyle/>
          <a:p>
            <a:pPr indent="0" marL="0">
              <a:buNone/>
            </a:pPr>
            <a:r>
              <a:rPr lang="en-US" sz="1100" b="1" spc="200" kern="0" dirty="0">
                <a:solidFill>
                  <a:srgbClr val="1A73E8"/>
                </a:solidFill>
                <a:latin typeface="Outfit" pitchFamily="34" charset="0"/>
                <a:ea typeface="Outfit" pitchFamily="34" charset="-122"/>
                <a:cs typeface="Outfit" pitchFamily="34" charset="-120"/>
              </a:rPr>
              <a:t>03 / PROQRAMIN İŞLƏMƏ MODELİ</a:t>
            </a:r>
            <a:endParaRPr lang="en-US" sz="1100" dirty="0"/>
          </a:p>
        </p:txBody>
      </p:sp>
      <p:sp>
        <p:nvSpPr>
          <p:cNvPr id="3" name="Text 1"/>
          <p:cNvSpPr/>
          <p:nvPr/>
        </p:nvSpPr>
        <p:spPr>
          <a:xfrm>
            <a:off x="731520" y="731520"/>
            <a:ext cx="10058400" cy="45720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Çevik İdarəetmə və Şəbəkə Koordinasiyası</a:t>
            </a:r>
            <a:endParaRPr lang="en-US" sz="2600" dirty="0"/>
          </a:p>
        </p:txBody>
      </p:sp>
      <p:sp>
        <p:nvSpPr>
          <p:cNvPr id="4" name="Text 2"/>
          <p:cNvSpPr/>
          <p:nvPr/>
        </p:nvSpPr>
        <p:spPr>
          <a:xfrm>
            <a:off x="731520" y="6217920"/>
            <a:ext cx="10058400" cy="274320"/>
          </a:xfrm>
          <a:prstGeom prst="rect">
            <a:avLst/>
          </a:prstGeom>
          <a:noFill/>
          <a:ln/>
        </p:spPr>
        <p:txBody>
          <a:bodyPr wrap="square" rtlCol="0" anchor="ctr"/>
          <a:lstStyle/>
          <a:p>
            <a:pPr indent="0" marL="0">
              <a:buNone/>
            </a:pPr>
            <a:r>
              <a:rPr lang="en-US" sz="900" b="1" dirty="0">
                <a:solidFill>
                  <a:srgbClr val="5A6578"/>
                </a:solidFill>
                <a:latin typeface="Inter" pitchFamily="34" charset="0"/>
                <a:ea typeface="Inter" pitchFamily="34" charset="-122"/>
                <a:cs typeface="Inter" pitchFamily="34" charset="-120"/>
              </a:rPr>
              <a:t>AVRORA GROUP &amp; BIZON ENERGY  |  CAMPUS AMBASSADOR PROGRAM</a:t>
            </a:r>
            <a:endParaRPr lang="en-US" sz="900" dirty="0"/>
          </a:p>
        </p:txBody>
      </p:sp>
      <p:sp>
        <p:nvSpPr>
          <p:cNvPr id="5" name="Text 3"/>
          <p:cNvSpPr/>
          <p:nvPr/>
        </p:nvSpPr>
        <p:spPr>
          <a:xfrm>
            <a:off x="731520" y="1463040"/>
            <a:ext cx="10515600" cy="4389120"/>
          </a:xfrm>
          <a:prstGeom prst="rect">
            <a:avLst/>
          </a:prstGeom>
          <a:noFill/>
          <a:ln/>
        </p:spPr>
        <p:txBody>
          <a:bodyPr wrap="square" rtlCol="0" anchor="ctr"/>
          <a:lstStyle/>
          <a:p>
            <a:pPr indent="0" marL="0">
              <a:lnSpc>
                <a:spcPts val="2200"/>
              </a:lnSpc>
              <a:buNone/>
            </a:pPr>
            <a:r>
              <a:rPr lang="en-US" sz="1350" dirty="0">
                <a:solidFill>
                  <a:srgbClr val="A6B4C9"/>
                </a:solidFill>
                <a:latin typeface="Inter" pitchFamily="34" charset="0"/>
                <a:ea typeface="Inter" pitchFamily="34" charset="-122"/>
                <a:cs typeface="Inter" pitchFamily="34" charset="-120"/>
              </a:rPr>
              <a:t>Bizon Campus Ambassador Program, mərkəzləşdirilmiş şirkət dəstəyi ilə tələbələrin yerli yaradıcı təşəbbüslərinin birləşdiyi çox çevik və effektiv idarəetmə modeli əsasında fəaliyyət göstərir:</a:t>
            </a:r>
            <a:endParaRPr lang="en-US" sz="1350" dirty="0"/>
          </a:p>
          <a:p>
            <a:pPr indent="0" marL="0">
              <a:lnSpc>
                <a:spcPts val="2200"/>
              </a:lnSpc>
              <a:buNone/>
            </a:pPr>
            <a:endParaRPr lang="en-US" sz="1350" dirty="0"/>
          </a:p>
          <a:p>
            <a:pPr indent="0" marL="0">
              <a:lnSpc>
                <a:spcPts val="2200"/>
              </a:lnSpc>
              <a:buNone/>
            </a:pPr>
            <a:r>
              <a:rPr lang="en-US" sz="1350" dirty="0">
                <a:solidFill>
                  <a:srgbClr val="A6B4C9"/>
                </a:solidFill>
                <a:latin typeface="Inter" pitchFamily="34" charset="0"/>
                <a:ea typeface="Inter" pitchFamily="34" charset="-122"/>
                <a:cs typeface="Inter" pitchFamily="34" charset="-120"/>
              </a:rPr>
              <a:t>• Tələbə Səlahiyyətləri: Campus Ambassador-lar öz universitetlərində Bizon brendinin rəsmi nümayəndələri kimi çıxış edir. Onlar yerli tələbə klubları, idman dərnəkləri ilə əməkdaşlıq qurur, tədbirlər və sosial media kontentləri planlaşdırırlar.</a:t>
            </a:r>
            <a:endParaRPr lang="en-US" sz="1350" dirty="0"/>
          </a:p>
          <a:p>
            <a:pPr indent="0" marL="0">
              <a:lnSpc>
                <a:spcPts val="2200"/>
              </a:lnSpc>
              <a:buNone/>
            </a:pPr>
            <a:endParaRPr lang="en-US" sz="1350" dirty="0"/>
          </a:p>
          <a:p>
            <a:pPr indent="0" marL="0">
              <a:lnSpc>
                <a:spcPts val="2200"/>
              </a:lnSpc>
              <a:buNone/>
            </a:pPr>
            <a:r>
              <a:rPr lang="en-US" sz="1350" dirty="0">
                <a:solidFill>
                  <a:srgbClr val="A6B4C9"/>
                </a:solidFill>
                <a:latin typeface="Inter" pitchFamily="34" charset="0"/>
                <a:ea typeface="Inter" pitchFamily="34" charset="-122"/>
                <a:cs typeface="Inter" pitchFamily="34" charset="-120"/>
              </a:rPr>
              <a:t>• Şirkət Tərəfinin Təminatı: Bizon və Avrora komandası nümayəndələri lazımi reklam materialları, məhsullar, layihə büdcələri, professional mentorluq və daimi koordinasiya ilə təmin edir, proseslərin rəsmi icrasına şərait yaradır.</a:t>
            </a:r>
            <a:endParaRPr lang="en-US" sz="1350" dirty="0"/>
          </a:p>
          <a:p>
            <a:pPr indent="0" marL="0">
              <a:lnSpc>
                <a:spcPts val="2200"/>
              </a:lnSpc>
              <a:buNone/>
            </a:pPr>
            <a:endParaRPr lang="en-US" sz="1350" dirty="0"/>
          </a:p>
          <a:p>
            <a:pPr indent="0" marL="0">
              <a:lnSpc>
                <a:spcPts val="2200"/>
              </a:lnSpc>
              <a:buNone/>
            </a:pPr>
            <a:r>
              <a:rPr lang="en-US" sz="1350" dirty="0">
                <a:solidFill>
                  <a:srgbClr val="A6B4C9"/>
                </a:solidFill>
                <a:latin typeface="Inter" pitchFamily="34" charset="0"/>
                <a:ea typeface="Inter" pitchFamily="34" charset="-122"/>
                <a:cs typeface="Inter" pitchFamily="34" charset="-120"/>
              </a:rPr>
              <a:t>• Dinamik Əlaqə Modeli: Hər bir nümayəndə mütəmadi olaraq görülən işlər barədə hesabat hazırlayır, tələbələrin rəy və təkliflərini şirkətin marketinq departamentinə ötürərək növbəti addımların formalaşmasında iştirak edir.</a:t>
            </a:r>
            <a:endParaRPr lang="en-US" sz="1350" dirty="0"/>
          </a:p>
          <a:p>
            <a:pPr indent="0" marL="0">
              <a:lnSpc>
                <a:spcPts val="2200"/>
              </a:lnSpc>
              <a:buNone/>
            </a:pPr>
            <a:endParaRPr lang="en-US" sz="1350" dirty="0"/>
          </a:p>
          <a:p>
            <a:pPr indent="0" marL="0">
              <a:lnSpc>
                <a:spcPts val="2200"/>
              </a:lnSpc>
              <a:buNone/>
            </a:pPr>
            <a:r>
              <a:rPr lang="en-US" sz="1350" dirty="0">
                <a:solidFill>
                  <a:srgbClr val="A6B4C9"/>
                </a:solidFill>
                <a:latin typeface="Inter" pitchFamily="34" charset="0"/>
                <a:ea typeface="Inter" pitchFamily="34" charset="-122"/>
                <a:cs typeface="Inter" pitchFamily="34" charset="-120"/>
              </a:rPr>
              <a:t>• Resursların Optimizasiyası: Hər universitetin öz mühitinə uyğun olaraq məhsul təminatı və reklam büdcələri fərdi şəkildə ayrılır ki, bu da resurslardan maksimum səmərəli istifadə edilməsinə imkan verir.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731520" y="365760"/>
            <a:ext cx="10058400" cy="274320"/>
          </a:xfrm>
          <a:prstGeom prst="rect">
            <a:avLst/>
          </a:prstGeom>
          <a:noFill/>
          <a:ln/>
        </p:spPr>
        <p:txBody>
          <a:bodyPr wrap="square" rtlCol="0" anchor="ctr"/>
          <a:lstStyle/>
          <a:p>
            <a:pPr indent="0" marL="0">
              <a:buNone/>
            </a:pPr>
            <a:r>
              <a:rPr lang="en-US" sz="1100" b="1" spc="200" kern="0" dirty="0">
                <a:solidFill>
                  <a:srgbClr val="1A73E8"/>
                </a:solidFill>
                <a:latin typeface="Outfit" pitchFamily="34" charset="0"/>
                <a:ea typeface="Outfit" pitchFamily="34" charset="-122"/>
                <a:cs typeface="Outfit" pitchFamily="34" charset="-120"/>
              </a:rPr>
              <a:t>04 / SEÇİM VƏ QİYMƏTLƏNDİRMƏ</a:t>
            </a:r>
            <a:endParaRPr lang="en-US" sz="1100" dirty="0"/>
          </a:p>
        </p:txBody>
      </p:sp>
      <p:sp>
        <p:nvSpPr>
          <p:cNvPr id="3" name="Text 1"/>
          <p:cNvSpPr/>
          <p:nvPr/>
        </p:nvSpPr>
        <p:spPr>
          <a:xfrm>
            <a:off x="731520" y="731520"/>
            <a:ext cx="10058400" cy="45720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Nümayəndələrin Seçilməsi və Liderlik Kriteriyaları</a:t>
            </a:r>
            <a:endParaRPr lang="en-US" sz="2600" dirty="0"/>
          </a:p>
        </p:txBody>
      </p:sp>
      <p:sp>
        <p:nvSpPr>
          <p:cNvPr id="4" name="Text 2"/>
          <p:cNvSpPr/>
          <p:nvPr/>
        </p:nvSpPr>
        <p:spPr>
          <a:xfrm>
            <a:off x="731520" y="6217920"/>
            <a:ext cx="10058400" cy="274320"/>
          </a:xfrm>
          <a:prstGeom prst="rect">
            <a:avLst/>
          </a:prstGeom>
          <a:noFill/>
          <a:ln/>
        </p:spPr>
        <p:txBody>
          <a:bodyPr wrap="square" rtlCol="0" anchor="ctr"/>
          <a:lstStyle/>
          <a:p>
            <a:pPr indent="0" marL="0">
              <a:buNone/>
            </a:pPr>
            <a:r>
              <a:rPr lang="en-US" sz="900" b="1" dirty="0">
                <a:solidFill>
                  <a:srgbClr val="5A6578"/>
                </a:solidFill>
                <a:latin typeface="Inter" pitchFamily="34" charset="0"/>
                <a:ea typeface="Inter" pitchFamily="34" charset="-122"/>
                <a:cs typeface="Inter" pitchFamily="34" charset="-120"/>
              </a:rPr>
              <a:t>AVRORA GROUP &amp; BIZON ENERGY  |  CAMPUS AMBASSADOR PROGRAM</a:t>
            </a:r>
            <a:endParaRPr lang="en-US" sz="900" dirty="0"/>
          </a:p>
        </p:txBody>
      </p:sp>
      <p:sp>
        <p:nvSpPr>
          <p:cNvPr id="5" name="Text 3"/>
          <p:cNvSpPr/>
          <p:nvPr/>
        </p:nvSpPr>
        <p:spPr>
          <a:xfrm>
            <a:off x="731520" y="1463040"/>
            <a:ext cx="10515600" cy="4389120"/>
          </a:xfrm>
          <a:prstGeom prst="rect">
            <a:avLst/>
          </a:prstGeom>
          <a:noFill/>
          <a:ln/>
        </p:spPr>
        <p:txBody>
          <a:bodyPr wrap="square" rtlCol="0" anchor="ctr"/>
          <a:lstStyle/>
          <a:p>
            <a:pPr indent="0" marL="0">
              <a:lnSpc>
                <a:spcPts val="2400"/>
              </a:lnSpc>
              <a:buNone/>
            </a:pPr>
            <a:r>
              <a:rPr lang="en-US" sz="1350" dirty="0">
                <a:solidFill>
                  <a:srgbClr val="A6B4C9"/>
                </a:solidFill>
                <a:latin typeface="Inter" pitchFamily="34" charset="0"/>
                <a:ea typeface="Inter" pitchFamily="34" charset="-122"/>
                <a:cs typeface="Inter" pitchFamily="34" charset="-120"/>
              </a:rPr>
              <a:t>Layihənin uğuru birbaşa seçilən Campus Ambassador-ların şəxsi keyfiyyətlərindən asılıdır. Buna görə də seçim prosesi olduqca ciddi, ədalətli və çoxmərhələli şəkildə təşkil edilir: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Akademik Qiymətlərdən Kənar Dəyərləndirmə: Seçim zamanı yalnız akademik qiymətlərə baxılmır; tələbənin liderlik potensialı, təşəbbüskarlığı, kommunikasiya bacarıqları və universitet mühitindəki nüfuzu əsas götürülür.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Üç Mərhələli Seçim Süzgəci: Namizədlər ilk öncə ətraflı onlayn müraciət forması doldurur, motivasiya məktubu təqdim edirlər. İkinci mərhələdə onların sosial media aktivliyi və təşkilatçılıq təcrübələri yoxlanılır. Son mərhələdə isə fərdi müsahibə aparılır.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Tədbir və Klub Təcrübəsi: Universitetin Tələbə Gənclər Təşkilatında (TGT), tələbə klublarında fəallıq göstərən, əvvəllər tədbir təşkil etmiş və komanda ilə işləmə bacarığı olan namizədlərə üstünlük verilir.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731520" y="365760"/>
            <a:ext cx="10058400" cy="274320"/>
          </a:xfrm>
          <a:prstGeom prst="rect">
            <a:avLst/>
          </a:prstGeom>
          <a:noFill/>
          <a:ln/>
        </p:spPr>
        <p:txBody>
          <a:bodyPr wrap="square" rtlCol="0" anchor="ctr"/>
          <a:lstStyle/>
          <a:p>
            <a:pPr indent="0" marL="0">
              <a:buNone/>
            </a:pPr>
            <a:r>
              <a:rPr lang="en-US" sz="1100" b="1" spc="200" kern="0" dirty="0">
                <a:solidFill>
                  <a:srgbClr val="1A73E8"/>
                </a:solidFill>
                <a:latin typeface="Outfit" pitchFamily="34" charset="0"/>
                <a:ea typeface="Outfit" pitchFamily="34" charset="-122"/>
                <a:cs typeface="Outfit" pitchFamily="34" charset="-120"/>
              </a:rPr>
              <a:t>05 / SƏFİRLƏRİN QAZANCLARI</a:t>
            </a:r>
            <a:endParaRPr lang="en-US" sz="1100" dirty="0"/>
          </a:p>
        </p:txBody>
      </p:sp>
      <p:sp>
        <p:nvSpPr>
          <p:cNvPr id="3" name="Text 1"/>
          <p:cNvSpPr/>
          <p:nvPr/>
        </p:nvSpPr>
        <p:spPr>
          <a:xfrm>
            <a:off x="731520" y="731520"/>
            <a:ext cx="10058400" cy="45720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Şəxsi İnkişaf, Təqaüd və Motivasiya Sistemi</a:t>
            </a:r>
            <a:endParaRPr lang="en-US" sz="2600" dirty="0"/>
          </a:p>
        </p:txBody>
      </p:sp>
      <p:sp>
        <p:nvSpPr>
          <p:cNvPr id="4" name="Text 2"/>
          <p:cNvSpPr/>
          <p:nvPr/>
        </p:nvSpPr>
        <p:spPr>
          <a:xfrm>
            <a:off x="731520" y="6217920"/>
            <a:ext cx="10058400" cy="274320"/>
          </a:xfrm>
          <a:prstGeom prst="rect">
            <a:avLst/>
          </a:prstGeom>
          <a:noFill/>
          <a:ln/>
        </p:spPr>
        <p:txBody>
          <a:bodyPr wrap="square" rtlCol="0" anchor="ctr"/>
          <a:lstStyle/>
          <a:p>
            <a:pPr indent="0" marL="0">
              <a:buNone/>
            </a:pPr>
            <a:r>
              <a:rPr lang="en-US" sz="900" b="1" dirty="0">
                <a:solidFill>
                  <a:srgbClr val="5A6578"/>
                </a:solidFill>
                <a:latin typeface="Inter" pitchFamily="34" charset="0"/>
                <a:ea typeface="Inter" pitchFamily="34" charset="-122"/>
                <a:cs typeface="Inter" pitchFamily="34" charset="-120"/>
              </a:rPr>
              <a:t>AVRORA GROUP &amp; BIZON ENERGY  |  CAMPUS AMBASSADOR PROGRAM</a:t>
            </a:r>
            <a:endParaRPr lang="en-US" sz="900" dirty="0"/>
          </a:p>
        </p:txBody>
      </p:sp>
      <p:sp>
        <p:nvSpPr>
          <p:cNvPr id="5" name="Text 3"/>
          <p:cNvSpPr/>
          <p:nvPr/>
        </p:nvSpPr>
        <p:spPr>
          <a:xfrm>
            <a:off x="731520" y="1463040"/>
            <a:ext cx="10515600" cy="4389120"/>
          </a:xfrm>
          <a:prstGeom prst="rect">
            <a:avLst/>
          </a:prstGeom>
          <a:noFill/>
          <a:ln/>
        </p:spPr>
        <p:txBody>
          <a:bodyPr wrap="square" rtlCol="0" anchor="ctr"/>
          <a:lstStyle/>
          <a:p>
            <a:pPr indent="0" marL="0">
              <a:lnSpc>
                <a:spcPts val="2400"/>
              </a:lnSpc>
              <a:buNone/>
            </a:pPr>
            <a:r>
              <a:rPr lang="en-US" sz="1350" dirty="0">
                <a:solidFill>
                  <a:srgbClr val="A6B4C9"/>
                </a:solidFill>
                <a:latin typeface="Inter" pitchFamily="34" charset="0"/>
                <a:ea typeface="Inter" pitchFamily="34" charset="-122"/>
                <a:cs typeface="Inter" pitchFamily="34" charset="-120"/>
              </a:rPr>
              <a:t>Bizon Campus Ambassador Program sadəcə bir könüllülük layihəsi deyil. Bu proqram gənclərin gələcək karyeralarına böyük töhfə verən və onları maddi-mənəvi olaraq stimullaşdıran real inkişaf platformasıdır: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Aylıq Maliyyə Təqaüdü (Stipend): Nümayəndələrin layihəyə ayırdıqları vaxtı, əməyi və göstərdikləri fəal fəaliyyəti qiymətləndirmək və onların uzunmüddətli motivasiyasını saxlamaq üçün hər birinə aylıq rəsmi maliyyə təqdim olunur.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Professional Karyera və Network: Səfirlər peşəkar mütəxəssislərlə geniş əlaqə şəbəkəsi (network) qurur və yüksək performans göstərənlər Avrora Group daxilində təcrübə (internship) keçmək imkanı əldə edirlər.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İlin Ən Yaxşılarının Mükafatlandırılması: Tədris ilinin sonunda "Best Campus Ambassador", "Best Event" və "Best Innovation" nominasiyaları üzrə fərqlənən qaliblər xüsusi qiymətli hədiyyələr, sertifikatlar, bonuslar və şirkət rəhbərliyi ilə görüş şansı qazanırlar.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731520" y="365760"/>
            <a:ext cx="10058400" cy="274320"/>
          </a:xfrm>
          <a:prstGeom prst="rect">
            <a:avLst/>
          </a:prstGeom>
          <a:noFill/>
          <a:ln/>
        </p:spPr>
        <p:txBody>
          <a:bodyPr wrap="square" rtlCol="0" anchor="ctr"/>
          <a:lstStyle/>
          <a:p>
            <a:pPr indent="0" marL="0">
              <a:buNone/>
            </a:pPr>
            <a:r>
              <a:rPr lang="en-US" sz="1100" b="1" spc="200" kern="0" dirty="0">
                <a:solidFill>
                  <a:srgbClr val="1A73E8"/>
                </a:solidFill>
                <a:latin typeface="Outfit" pitchFamily="34" charset="0"/>
                <a:ea typeface="Outfit" pitchFamily="34" charset="-122"/>
                <a:cs typeface="Outfit" pitchFamily="34" charset="-120"/>
              </a:rPr>
              <a:t>06 / RESURS TƏMİNATI</a:t>
            </a:r>
            <a:endParaRPr lang="en-US" sz="1100" dirty="0"/>
          </a:p>
        </p:txBody>
      </p:sp>
      <p:sp>
        <p:nvSpPr>
          <p:cNvPr id="3" name="Text 1"/>
          <p:cNvSpPr/>
          <p:nvPr/>
        </p:nvSpPr>
        <p:spPr>
          <a:xfrm>
            <a:off x="731520" y="731520"/>
            <a:ext cx="10058400" cy="45720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Tədbirlərin Keçirilməsi və Bizon Dəstək Mexanizmi</a:t>
            </a:r>
            <a:endParaRPr lang="en-US" sz="2600" dirty="0"/>
          </a:p>
        </p:txBody>
      </p:sp>
      <p:sp>
        <p:nvSpPr>
          <p:cNvPr id="4" name="Text 2"/>
          <p:cNvSpPr/>
          <p:nvPr/>
        </p:nvSpPr>
        <p:spPr>
          <a:xfrm>
            <a:off x="731520" y="6217920"/>
            <a:ext cx="10058400" cy="274320"/>
          </a:xfrm>
          <a:prstGeom prst="rect">
            <a:avLst/>
          </a:prstGeom>
          <a:noFill/>
          <a:ln/>
        </p:spPr>
        <p:txBody>
          <a:bodyPr wrap="square" rtlCol="0" anchor="ctr"/>
          <a:lstStyle/>
          <a:p>
            <a:pPr indent="0" marL="0">
              <a:buNone/>
            </a:pPr>
            <a:r>
              <a:rPr lang="en-US" sz="900" b="1" dirty="0">
                <a:solidFill>
                  <a:srgbClr val="5A6578"/>
                </a:solidFill>
                <a:latin typeface="Inter" pitchFamily="34" charset="0"/>
                <a:ea typeface="Inter" pitchFamily="34" charset="-122"/>
                <a:cs typeface="Inter" pitchFamily="34" charset="-120"/>
              </a:rPr>
              <a:t>AVRORA GROUP &amp; BIZON ENERGY  |  CAMPUS AMBASSADOR PROGRAM</a:t>
            </a:r>
            <a:endParaRPr lang="en-US" sz="900" dirty="0"/>
          </a:p>
        </p:txBody>
      </p:sp>
      <p:sp>
        <p:nvSpPr>
          <p:cNvPr id="5" name="Text 3"/>
          <p:cNvSpPr/>
          <p:nvPr/>
        </p:nvSpPr>
        <p:spPr>
          <a:xfrm>
            <a:off x="731520" y="1463040"/>
            <a:ext cx="10515600" cy="4389120"/>
          </a:xfrm>
          <a:prstGeom prst="rect">
            <a:avLst/>
          </a:prstGeom>
          <a:noFill/>
          <a:ln/>
        </p:spPr>
        <p:txBody>
          <a:bodyPr wrap="square" rtlCol="0" anchor="ctr"/>
          <a:lstStyle/>
          <a:p>
            <a:pPr indent="0" marL="0">
              <a:lnSpc>
                <a:spcPts val="2400"/>
              </a:lnSpc>
              <a:buNone/>
            </a:pPr>
            <a:r>
              <a:rPr lang="en-US" sz="1350" dirty="0">
                <a:solidFill>
                  <a:srgbClr val="A6B4C9"/>
                </a:solidFill>
                <a:latin typeface="Inter" pitchFamily="34" charset="0"/>
                <a:ea typeface="Inter" pitchFamily="34" charset="-122"/>
                <a:cs typeface="Inter" pitchFamily="34" charset="-120"/>
              </a:rPr>
              <a:t>Bizon, tələbə nümayəndələrinin təklif etdiyi hər bir yaradıcı layihəyə sadəcə ideya səviyyəsində yanaşmır, həm də onların tam rəsmi maliyyələşdirilməsi və təşkilatı koordinasiyasında əsas tərəfdaş kimi çıxış edir: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Brending və Vizual Material Təminatı: Tədbirlər üçün lazım olan bütün növ roll-up bannerlər, stendlər, geyimlər (Bizon t-shirt, papaqlar), tələbələr üçün xüsusi promo hədiyyələr, dekorasiya elementləri və çap materialları şirkət tərəfindən tam təmin edilir.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Fərdi Büdcə və Maliyyələşdirmə: Hər bir tədbirin miqyasına, gözlənilən iştirakçı sayına və verəcəyi faydaya uyğun olaraq əvvəlcədən xərclər qiymətləndirilir. Təsdiq edilmiş layihələr üçün Bizon tərəfindən xüsusi tədbir büdcəsi ayrılır.</a:t>
            </a:r>
            <a:endParaRPr lang="en-US" sz="1350" dirty="0"/>
          </a:p>
          <a:p>
            <a:pPr indent="0" marL="0">
              <a:lnSpc>
                <a:spcPts val="2400"/>
              </a:lnSpc>
              <a:buNone/>
            </a:pPr>
            <a:endParaRPr lang="en-US" sz="1350" dirty="0"/>
          </a:p>
          <a:p>
            <a:pPr indent="0" marL="0">
              <a:lnSpc>
                <a:spcPts val="2400"/>
              </a:lnSpc>
              <a:buNone/>
            </a:pPr>
            <a:r>
              <a:rPr lang="en-US" sz="1350" dirty="0">
                <a:solidFill>
                  <a:srgbClr val="A6B4C9"/>
                </a:solidFill>
                <a:latin typeface="Inter" pitchFamily="34" charset="0"/>
                <a:ea typeface="Inter" pitchFamily="34" charset="-122"/>
                <a:cs typeface="Inter" pitchFamily="34" charset="-120"/>
              </a:rPr>
              <a:t>• Peşəkar Komanda və Spiker Dəstəyi: Ehtiyac olduqda, Avrora Group-un daxili departamentlərinin rəhbərləri (marketinq, satış, HR) və dəvət olunmuş tanınmış spikerlər bu tədbirlərdə iştirak edərək öz təcrübələrini tələbələrlə bölüşürlər.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731520" y="365760"/>
            <a:ext cx="10058400" cy="274320"/>
          </a:xfrm>
          <a:prstGeom prst="rect">
            <a:avLst/>
          </a:prstGeom>
          <a:noFill/>
          <a:ln/>
        </p:spPr>
        <p:txBody>
          <a:bodyPr wrap="square" rtlCol="0" anchor="ctr"/>
          <a:lstStyle/>
          <a:p>
            <a:pPr indent="0" marL="0">
              <a:buNone/>
            </a:pPr>
            <a:r>
              <a:rPr lang="en-US" sz="1100" b="1" spc="200" kern="0" dirty="0">
                <a:solidFill>
                  <a:srgbClr val="1A73E8"/>
                </a:solidFill>
                <a:latin typeface="Outfit" pitchFamily="34" charset="0"/>
                <a:ea typeface="Outfit" pitchFamily="34" charset="-122"/>
                <a:cs typeface="Outfit" pitchFamily="34" charset="-120"/>
              </a:rPr>
              <a:t>07 / İNKİŞAF STRATEJİSİ</a:t>
            </a:r>
            <a:endParaRPr lang="en-US" sz="1100" dirty="0"/>
          </a:p>
        </p:txBody>
      </p:sp>
      <p:sp>
        <p:nvSpPr>
          <p:cNvPr id="3" name="Text 1"/>
          <p:cNvSpPr/>
          <p:nvPr/>
        </p:nvSpPr>
        <p:spPr>
          <a:xfrm>
            <a:off x="731520" y="731520"/>
            <a:ext cx="10058400" cy="457200"/>
          </a:xfrm>
          <a:prstGeom prst="rect">
            <a:avLst/>
          </a:prstGeom>
          <a:noFill/>
          <a:ln/>
        </p:spPr>
        <p:txBody>
          <a:bodyPr wrap="square" rtlCol="0" anchor="ctr"/>
          <a:lstStyle/>
          <a:p>
            <a:pPr indent="0" marL="0">
              <a:buNone/>
            </a:pPr>
            <a:r>
              <a:rPr lang="en-US" sz="2600" b="1" dirty="0">
                <a:solidFill>
                  <a:srgbClr val="FFFFFF"/>
                </a:solidFill>
                <a:latin typeface="Outfit" pitchFamily="34" charset="0"/>
                <a:ea typeface="Outfit" pitchFamily="34" charset="-122"/>
                <a:cs typeface="Outfit" pitchFamily="34" charset="-120"/>
              </a:rPr>
              <a:t>Proqramın 5 İllik Strateji İnkişaf Yol Xəritəsi</a:t>
            </a:r>
            <a:endParaRPr lang="en-US" sz="2600" dirty="0"/>
          </a:p>
        </p:txBody>
      </p:sp>
      <p:sp>
        <p:nvSpPr>
          <p:cNvPr id="4" name="Text 2"/>
          <p:cNvSpPr/>
          <p:nvPr/>
        </p:nvSpPr>
        <p:spPr>
          <a:xfrm>
            <a:off x="731520" y="6217920"/>
            <a:ext cx="10058400" cy="274320"/>
          </a:xfrm>
          <a:prstGeom prst="rect">
            <a:avLst/>
          </a:prstGeom>
          <a:noFill/>
          <a:ln/>
        </p:spPr>
        <p:txBody>
          <a:bodyPr wrap="square" rtlCol="0" anchor="ctr"/>
          <a:lstStyle/>
          <a:p>
            <a:pPr indent="0" marL="0">
              <a:buNone/>
            </a:pPr>
            <a:r>
              <a:rPr lang="en-US" sz="900" b="1" dirty="0">
                <a:solidFill>
                  <a:srgbClr val="5A6578"/>
                </a:solidFill>
                <a:latin typeface="Inter" pitchFamily="34" charset="0"/>
                <a:ea typeface="Inter" pitchFamily="34" charset="-122"/>
                <a:cs typeface="Inter" pitchFamily="34" charset="-120"/>
              </a:rPr>
              <a:t>AVRORA GROUP &amp; BIZON ENERGY  |  CAMPUS AMBASSADOR PROGRAM</a:t>
            </a:r>
            <a:endParaRPr lang="en-US" sz="900" dirty="0"/>
          </a:p>
        </p:txBody>
      </p:sp>
      <p:sp>
        <p:nvSpPr>
          <p:cNvPr id="5" name="Text 3"/>
          <p:cNvSpPr/>
          <p:nvPr/>
        </p:nvSpPr>
        <p:spPr>
          <a:xfrm>
            <a:off x="731520" y="1463040"/>
            <a:ext cx="10515600" cy="4389120"/>
          </a:xfrm>
          <a:prstGeom prst="rect">
            <a:avLst/>
          </a:prstGeom>
          <a:noFill/>
          <a:ln/>
        </p:spPr>
        <p:txBody>
          <a:bodyPr wrap="square" rtlCol="0" anchor="ctr"/>
          <a:lstStyle/>
          <a:p>
            <a:pPr indent="0" marL="0">
              <a:lnSpc>
                <a:spcPts val="2000"/>
              </a:lnSpc>
              <a:buNone/>
            </a:pPr>
            <a:r>
              <a:rPr lang="en-US" sz="1300" dirty="0">
                <a:solidFill>
                  <a:srgbClr val="A6B4C9"/>
                </a:solidFill>
                <a:latin typeface="Inter" pitchFamily="34" charset="0"/>
                <a:ea typeface="Inter" pitchFamily="34" charset="-122"/>
                <a:cs typeface="Inter" pitchFamily="34" charset="-120"/>
              </a:rPr>
              <a:t>Bizon Campus Ambassador Program Azərbaycanın gənclər marketinqi sahəsində ən uğurlu və uzunmüddətli model olmaq üçün mərhələli şəkildə inkişaf etdirilir:</a:t>
            </a:r>
            <a:endParaRPr lang="en-US" sz="1300" dirty="0"/>
          </a:p>
          <a:p>
            <a:pPr indent="0" marL="0">
              <a:lnSpc>
                <a:spcPts val="2000"/>
              </a:lnSpc>
              <a:buNone/>
            </a:pPr>
            <a:endParaRPr lang="en-US" sz="1300" dirty="0"/>
          </a:p>
          <a:p>
            <a:pPr indent="0" marL="0">
              <a:lnSpc>
                <a:spcPts val="2000"/>
              </a:lnSpc>
              <a:buNone/>
            </a:pPr>
            <a:r>
              <a:rPr lang="en-US" sz="1300" dirty="0">
                <a:solidFill>
                  <a:srgbClr val="A6B4C9"/>
                </a:solidFill>
                <a:latin typeface="Inter" pitchFamily="34" charset="0"/>
                <a:ea typeface="Inter" pitchFamily="34" charset="-122"/>
                <a:cs typeface="Inter" pitchFamily="34" charset="-120"/>
              </a:rPr>
              <a:t>• Mərhələ 1: Pilot Layihə və Bakı Universitetləri (2026)</a:t>
            </a:r>
            <a:endParaRPr lang="en-US" sz="1300" dirty="0"/>
          </a:p>
          <a:p>
            <a:pPr indent="0" marL="0">
              <a:lnSpc>
                <a:spcPts val="2000"/>
              </a:lnSpc>
              <a:buNone/>
            </a:pPr>
            <a:r>
              <a:rPr lang="en-US" sz="1300" dirty="0">
                <a:solidFill>
                  <a:srgbClr val="A6B4C9"/>
                </a:solidFill>
                <a:latin typeface="Inter" pitchFamily="34" charset="0"/>
                <a:ea typeface="Inter" pitchFamily="34" charset="-122"/>
                <a:cs typeface="Inter" pitchFamily="34" charset="-120"/>
              </a:rPr>
              <a:t>  Bakı şəhərində yerləşən 5 ən böyük dövlət və özəl universitetdə proqramın başladılması, nümayəndələrin seçilməsi və ilk tədbirlərin təşkil olunaraq sistemin sınaqdan keçirilməsi.</a:t>
            </a:r>
            <a:endParaRPr lang="en-US" sz="1300" dirty="0"/>
          </a:p>
          <a:p>
            <a:pPr indent="0" marL="0">
              <a:lnSpc>
                <a:spcPts val="2000"/>
              </a:lnSpc>
              <a:buNone/>
            </a:pPr>
            <a:endParaRPr lang="en-US" sz="1300" dirty="0"/>
          </a:p>
          <a:p>
            <a:pPr indent="0" marL="0">
              <a:lnSpc>
                <a:spcPts val="2000"/>
              </a:lnSpc>
              <a:buNone/>
            </a:pPr>
            <a:r>
              <a:rPr lang="en-US" sz="1300" dirty="0">
                <a:solidFill>
                  <a:srgbClr val="A6B4C9"/>
                </a:solidFill>
                <a:latin typeface="Inter" pitchFamily="34" charset="0"/>
                <a:ea typeface="Inter" pitchFamily="34" charset="-122"/>
                <a:cs typeface="Inter" pitchFamily="34" charset="-120"/>
              </a:rPr>
              <a:t>• Mərhələ 2: Regional Universitetlərin İnteqrasiyası (2027-2028)</a:t>
            </a:r>
            <a:endParaRPr lang="en-US" sz="1300" dirty="0"/>
          </a:p>
          <a:p>
            <a:pPr indent="0" marL="0">
              <a:lnSpc>
                <a:spcPts val="2000"/>
              </a:lnSpc>
              <a:buNone/>
            </a:pPr>
            <a:r>
              <a:rPr lang="en-US" sz="1300" dirty="0">
                <a:solidFill>
                  <a:srgbClr val="A6B4C9"/>
                </a:solidFill>
                <a:latin typeface="Inter" pitchFamily="34" charset="0"/>
                <a:ea typeface="Inter" pitchFamily="34" charset="-122"/>
                <a:cs typeface="Inter" pitchFamily="34" charset="-120"/>
              </a:rPr>
              <a:t>  Gəncə, Sumqayıt, Lənkəran, Mingəçevir, Naxçıvan və digər regional şəhərlərdə yerləşən bütün universitetlərin proqrama daxil edilməsi ilə şəbəkənin 20-dən çox ali məktəbə çatdırılması.</a:t>
            </a:r>
            <a:endParaRPr lang="en-US" sz="1300" dirty="0"/>
          </a:p>
          <a:p>
            <a:pPr indent="0" marL="0">
              <a:lnSpc>
                <a:spcPts val="2000"/>
              </a:lnSpc>
              <a:buNone/>
            </a:pPr>
            <a:endParaRPr lang="en-US" sz="1300" dirty="0"/>
          </a:p>
          <a:p>
            <a:pPr indent="0" marL="0">
              <a:lnSpc>
                <a:spcPts val="2000"/>
              </a:lnSpc>
              <a:buNone/>
            </a:pPr>
            <a:r>
              <a:rPr lang="en-US" sz="1300" dirty="0">
                <a:solidFill>
                  <a:srgbClr val="A6B4C9"/>
                </a:solidFill>
                <a:latin typeface="Inter" pitchFamily="34" charset="0"/>
                <a:ea typeface="Inter" pitchFamily="34" charset="-122"/>
                <a:cs typeface="Inter" pitchFamily="34" charset="-120"/>
              </a:rPr>
              <a:t>• Mərhələ 3: Rəqəmsal Səfirlər və Beynəlxalq Layihələr (2029)</a:t>
            </a:r>
            <a:endParaRPr lang="en-US" sz="1300" dirty="0"/>
          </a:p>
          <a:p>
            <a:pPr indent="0" marL="0">
              <a:lnSpc>
                <a:spcPts val="2000"/>
              </a:lnSpc>
              <a:buNone/>
            </a:pPr>
            <a:r>
              <a:rPr lang="en-US" sz="1300" dirty="0">
                <a:solidFill>
                  <a:srgbClr val="A6B4C9"/>
                </a:solidFill>
                <a:latin typeface="Inter" pitchFamily="34" charset="0"/>
                <a:ea typeface="Inter" pitchFamily="34" charset="-122"/>
                <a:cs typeface="Inter" pitchFamily="34" charset="-120"/>
              </a:rPr>
              <a:t>  Tələbə səfirlərinin sosial şəbəkələrdə Bizon brendi üçün əsas rəqəmsal kontent yaradıcılarına (influencer/creator) çevrilməsi və beynəlxalq tələbə mübadiləsi proqramlarının yaradılması.</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70F"/>
        </a:solidFill>
      </p:bgPr>
    </p:bg>
    <p:spTree>
      <p:nvGrpSpPr>
        <p:cNvPr id="1" name=""/>
        <p:cNvGrpSpPr/>
        <p:nvPr/>
      </p:nvGrpSpPr>
      <p:grpSpPr>
        <a:xfrm>
          <a:off x="0" y="0"/>
          <a:ext cx="0" cy="0"/>
          <a:chOff x="0" y="0"/>
          <a:chExt cx="0" cy="0"/>
        </a:xfrm>
      </p:grpSpPr>
      <p:sp>
        <p:nvSpPr>
          <p:cNvPr id="2" name="Text 0"/>
          <p:cNvSpPr/>
          <p:nvPr/>
        </p:nvSpPr>
        <p:spPr>
          <a:xfrm>
            <a:off x="914400" y="1828800"/>
            <a:ext cx="9144000" cy="457200"/>
          </a:xfrm>
          <a:prstGeom prst="rect">
            <a:avLst/>
          </a:prstGeom>
          <a:noFill/>
          <a:ln/>
        </p:spPr>
        <p:txBody>
          <a:bodyPr wrap="square" rtlCol="0" anchor="ctr"/>
          <a:lstStyle/>
          <a:p>
            <a:pPr indent="0" marL="0">
              <a:buNone/>
            </a:pPr>
            <a:r>
              <a:rPr lang="en-US" sz="1200" b="1" spc="200" kern="0" dirty="0">
                <a:solidFill>
                  <a:srgbClr val="1A73E8"/>
                </a:solidFill>
                <a:latin typeface="Outfit" pitchFamily="34" charset="0"/>
                <a:ea typeface="Outfit" pitchFamily="34" charset="-122"/>
                <a:cs typeface="Outfit" pitchFamily="34" charset="-120"/>
              </a:rPr>
              <a:t>AVRORA &amp; BIZON BİRLİYİ</a:t>
            </a:r>
            <a:endParaRPr lang="en-US" sz="1200" dirty="0"/>
          </a:p>
        </p:txBody>
      </p:sp>
      <p:sp>
        <p:nvSpPr>
          <p:cNvPr id="3" name="Text 1"/>
          <p:cNvSpPr/>
          <p:nvPr/>
        </p:nvSpPr>
        <p:spPr>
          <a:xfrm>
            <a:off x="914400" y="2468880"/>
            <a:ext cx="9144000" cy="1645920"/>
          </a:xfrm>
          <a:prstGeom prst="rect">
            <a:avLst/>
          </a:prstGeom>
          <a:noFill/>
          <a:ln/>
        </p:spPr>
        <p:txBody>
          <a:bodyPr wrap="square" rtlCol="0" anchor="ctr"/>
          <a:lstStyle/>
          <a:p>
            <a:pPr indent="0" marL="0">
              <a:buNone/>
            </a:pPr>
            <a:r>
              <a:rPr lang="en-US" sz="4200" b="1" dirty="0">
                <a:solidFill>
                  <a:srgbClr val="FF3B30"/>
                </a:solidFill>
                <a:latin typeface="Outfit" pitchFamily="34" charset="0"/>
                <a:ea typeface="Outfit" pitchFamily="34" charset="-122"/>
                <a:cs typeface="Outfit" pitchFamily="34" charset="-120"/>
              </a:rPr>
              <a:t>Gələcəyin Enerjisini</a:t>
            </a:r>
            <a:endParaRPr lang="en-US" sz="4200" dirty="0"/>
          </a:p>
          <a:p>
            <a:pPr indent="0" marL="0">
              <a:buNone/>
            </a:pPr>
            <a:r>
              <a:rPr lang="en-US" sz="4200" b="1" dirty="0">
                <a:solidFill>
                  <a:srgbClr val="FF3B30"/>
                </a:solidFill>
                <a:latin typeface="Outfit" pitchFamily="34" charset="0"/>
                <a:ea typeface="Outfit" pitchFamily="34" charset="-122"/>
                <a:cs typeface="Outfit" pitchFamily="34" charset="-120"/>
              </a:rPr>
              <a:t>Birlikdə Qururuq!</a:t>
            </a:r>
            <a:endParaRPr lang="en-US" sz="4200" dirty="0"/>
          </a:p>
        </p:txBody>
      </p:sp>
      <p:sp>
        <p:nvSpPr>
          <p:cNvPr id="4" name="Text 2"/>
          <p:cNvSpPr/>
          <p:nvPr/>
        </p:nvSpPr>
        <p:spPr>
          <a:xfrm>
            <a:off x="914400" y="4206240"/>
            <a:ext cx="9144000" cy="1371600"/>
          </a:xfrm>
          <a:prstGeom prst="rect">
            <a:avLst/>
          </a:prstGeom>
          <a:noFill/>
          <a:ln/>
        </p:spPr>
        <p:txBody>
          <a:bodyPr wrap="square" rtlCol="0" anchor="ctr"/>
          <a:lstStyle/>
          <a:p>
            <a:pPr indent="0" marL="0">
              <a:lnSpc>
                <a:spcPts val="2200"/>
              </a:lnSpc>
              <a:buNone/>
            </a:pPr>
            <a:r>
              <a:rPr lang="en-US" sz="1500" dirty="0">
                <a:solidFill>
                  <a:srgbClr val="A6B4C9"/>
                </a:solidFill>
                <a:latin typeface="Inter" pitchFamily="34" charset="0"/>
                <a:ea typeface="Inter" pitchFamily="34" charset="-122"/>
                <a:cs typeface="Inter" pitchFamily="34" charset="-120"/>
              </a:rPr>
              <a:t>Avrora Group-un güclü maliyyə, istehsalat və logistik imkanları ilə Bizon Energy brendinin gənclik dinamikasını birləşdirərək gələcək nəsillərə daha sadiq, daha etibarlı və yerli istehsala əsaslanan qlobal bir tələbə şəbəkəsi qazandırırıq.</a:t>
            </a:r>
            <a:endParaRPr lang="en-US" sz="1500" dirty="0"/>
          </a:p>
          <a:p>
            <a:pPr indent="0" marL="0">
              <a:lnSpc>
                <a:spcPts val="2200"/>
              </a:lnSpc>
              <a:buNone/>
            </a:pPr>
            <a:endParaRPr lang="en-US" sz="1500" dirty="0"/>
          </a:p>
          <a:p>
            <a:pPr indent="0" marL="0">
              <a:lnSpc>
                <a:spcPts val="2200"/>
              </a:lnSpc>
              <a:buNone/>
            </a:pPr>
            <a:r>
              <a:rPr lang="en-US" sz="1500" dirty="0">
                <a:solidFill>
                  <a:srgbClr val="A6B4C9"/>
                </a:solidFill>
                <a:latin typeface="Inter" pitchFamily="34" charset="0"/>
                <a:ea typeface="Inter" pitchFamily="34" charset="-122"/>
                <a:cs typeface="Inter" pitchFamily="34" charset="-120"/>
              </a:rPr>
              <a:t>Diqqətiniz üçün təşəkkür edirik!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2026-07-12T20:42:27Z</dcterms:created>
  <dcterms:modified xsi:type="dcterms:W3CDTF">2026-07-12T20:42:27Z</dcterms:modified>
</cp:coreProperties>
</file>